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690386-6767-46A6-8903-057599871391}" type="datetimeFigureOut">
              <a:t>16/06/2026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F2025-5369-4280-8145-99CE9A45112B}" type="slidenum"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07624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técnica com tom divertido. 'Agora vamos ver o que está por trás da bicicleta!' ~10s.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pasta src/ no IDE enquanto narras. Cada cor = uma camada. 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models.h no IDE. Destacar que são structs tipadas, não maps genéricos. ~50s.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geojson_reader.h. Destacar is_null() e o if/else MultiLineString. ~50s.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utils.h. Mostrar normalizeDate() e mercatorToWGS84(). Destacar que não usa biblioteca externa. ~1min.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statistics.h. Destacar agg[freg] e o comparador lambda. Mencionar O(n log k). ~1min.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writer.h. Mostrar csvEscape() e writeGeoJSON(). Listar os 13 ficheiros. 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main.cpp. Mostrar a sequência linear e como os módulos são independentes. ~30s.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TERMINAL REAL! Compilar ao vivo se possível. ~50s.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Fecho. Todos os módulos juntos como uma equipa. Referir o repositório GitHub. ~15s.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1C40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3774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1C40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1C40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1C40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1381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1C40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457200"/>
            <a:ext cx="2011680" cy="640080"/>
          </a:xfrm>
          <a:prstGeom prst="roundRect">
            <a:avLst>
              <a:gd name="adj" fmla="val 17143"/>
            </a:avLst>
          </a:prstGeom>
          <a:solidFill>
            <a:srgbClr val="F1C40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57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 BASTIDORES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0" cy="2606040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44450">
            <a:solidFill>
              <a:srgbClr val="2C3E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37160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Código</a:t>
            </a:r>
            <a:endParaRPr lang="en-US" sz="5000" dirty="0"/>
          </a:p>
          <a:p>
            <a:pPr marL="0" indent="0" algn="ctr">
              <a:buNone/>
            </a:pPr>
            <a:r>
              <a:rPr lang="en-US" sz="5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Dentro!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ficheiros · C++17 · STL · nlohmann/</a:t>
            </a:r>
            <a:r>
              <a:rPr lang="en-US" sz="1500" i="1" dirty="0" err="1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r>
              <a:rPr lang="en-US" sz="1500" i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endParaRPr lang="en-US" sz="15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886200"/>
            <a:ext cx="1188720" cy="11887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749040" y="3794760"/>
            <a:ext cx="1645920" cy="1645920"/>
          </a:xfrm>
          <a:prstGeom prst="ellipse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39319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Mapa dos Módulos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4320" y="56692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ficheiros, cada um com o seu superpoder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65960" cy="1234440"/>
          </a:xfrm>
          <a:prstGeom prst="roundRect">
            <a:avLst>
              <a:gd name="adj" fmla="val 11111"/>
            </a:avLst>
          </a:prstGeom>
          <a:solidFill>
            <a:srgbClr val="D5F5E3"/>
          </a:solidFill>
          <a:ln w="38100">
            <a:solidFill>
              <a:srgbClr val="1A9B5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2751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84048" y="1512151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geojson_reader.h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850479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GeoJSON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null-safe + Multi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1005840"/>
            <a:ext cx="1965960" cy="1234440"/>
          </a:xfrm>
          <a:prstGeom prst="roundRect">
            <a:avLst>
              <a:gd name="adj" fmla="val 11111"/>
            </a:avLst>
          </a:prstGeom>
          <a:solidFill>
            <a:srgbClr val="D5F5E3"/>
          </a:solidFill>
          <a:ln w="38100">
            <a:solidFill>
              <a:srgbClr val="1A9B5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02751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📂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32888" y="1512151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csv_reader.h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32888" y="1850479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CSV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aspas internas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1965960" cy="1234440"/>
          </a:xfrm>
          <a:prstGeom prst="roundRect">
            <a:avLst>
              <a:gd name="adj" fmla="val 11111"/>
            </a:avLst>
          </a:prstGeom>
          <a:solidFill>
            <a:srgbClr val="FEF9E7"/>
          </a:solidFill>
          <a:ln w="38100">
            <a:solidFill>
              <a:srgbClr val="E67E2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102751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81728" y="1512151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utils.h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1850479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Datas, trim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EPSG:3857→WGS84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68260" y="1026159"/>
            <a:ext cx="1965960" cy="1234440"/>
          </a:xfrm>
          <a:prstGeom prst="roundRect">
            <a:avLst>
              <a:gd name="adj" fmla="val 11111"/>
            </a:avLst>
          </a:prstGeom>
          <a:solidFill>
            <a:srgbClr val="F3EEFF"/>
          </a:solidFill>
          <a:ln w="38100">
            <a:solidFill>
              <a:srgbClr val="9B59B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102751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13448" y="1512151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13448" y="1850479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dados tipadas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371600" y="2606040"/>
            <a:ext cx="2286000" cy="1234440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38100">
            <a:solidFill>
              <a:srgbClr val="2471A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508760" y="259385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81328" y="307848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statistics.h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81328" y="3416814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std::map · std::sort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agregação + ranking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0" y="2606040"/>
            <a:ext cx="2286000" cy="1234440"/>
          </a:xfrm>
          <a:prstGeom prst="roundRect">
            <a:avLst>
              <a:gd name="adj" fmla="val 11111"/>
            </a:avLst>
          </a:prstGeom>
          <a:solidFill>
            <a:srgbClr val="FFF0EE"/>
          </a:solidFill>
          <a:ln w="38100">
            <a:solidFill>
              <a:srgbClr val="E74C3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977640" y="259385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🖨️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950208" y="307848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writer.h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50208" y="3416814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13 ficheiros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+ GeoJSON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2606040"/>
            <a:ext cx="2560320" cy="1234440"/>
          </a:xfrm>
          <a:prstGeom prst="roundRect">
            <a:avLst>
              <a:gd name="adj" fmla="val 11111"/>
            </a:avLst>
          </a:prstGeom>
          <a:solidFill>
            <a:srgbClr val="F9EBEA"/>
          </a:solidFill>
          <a:ln w="38100">
            <a:solidFill>
              <a:srgbClr val="E74C3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46520" y="259385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🎭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419088" y="3078486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main.cpp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19088" y="341681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 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tarefas em sequência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31520" y="4072462"/>
            <a:ext cx="740664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ysDash"/>
          </a:ln>
        </p:spPr>
      </p:sp>
      <p:sp>
        <p:nvSpPr>
          <p:cNvPr id="33" name="Shape 31"/>
          <p:cNvSpPr/>
          <p:nvPr/>
        </p:nvSpPr>
        <p:spPr>
          <a:xfrm rot="5400000">
            <a:off x="8065008" y="3990166"/>
            <a:ext cx="182880" cy="182880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 →  Normalização  →  Processamento  →  Escrita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8595360" cy="594360"/>
          </a:xfrm>
          <a:prstGeom prst="roundRect">
            <a:avLst>
              <a:gd name="adj" fmla="val 23077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models.h  —  Os Cartões de Identidade dos Dados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834640" cy="352044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38100">
            <a:solidFill>
              <a:srgbClr val="1A9B5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2296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🚲  Estacionamento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objectid: int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freguesia: string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tipo: string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52374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modelo: string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712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capacidade: int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2186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coberto: bool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lon, lat: double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2834640" cy="685800"/>
          </a:xfrm>
          <a:prstGeom prst="roundRect">
            <a:avLst>
              <a:gd name="adj" fmla="val 26667"/>
            </a:avLst>
          </a:prstGeom>
          <a:solidFill>
            <a:srgbClr val="2ECC71"/>
          </a:solidFill>
          <a:ln w="31750">
            <a:solidFill>
              <a:srgbClr val="1A9B5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4233672"/>
            <a:ext cx="292608" cy="201168"/>
          </a:xfrm>
          <a:prstGeom prst="triangl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65760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campos fortemente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tipados. Sem map&lt;&gt;!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822960"/>
            <a:ext cx="2834640" cy="352044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38100">
            <a:solidFill>
              <a:srgbClr val="2471A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822960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82296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🛣️  CicloVia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14813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objectid: int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29000" y="18288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designacao: string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29000" y="21762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tipologia: string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29000" y="252374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comp_km: double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0" y="28712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freguesia: string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29000" y="32186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coords: vector&lt;pair&gt;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46120" y="3566160"/>
            <a:ext cx="2834640" cy="685800"/>
          </a:xfrm>
          <a:prstGeom prst="roundRect">
            <a:avLst>
              <a:gd name="adj" fmla="val 26667"/>
            </a:avLst>
          </a:prstGeom>
          <a:solidFill>
            <a:srgbClr val="3498DB"/>
          </a:solidFill>
          <a:ln w="31750">
            <a:solidFill>
              <a:srgbClr val="2471A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66160" y="4233672"/>
            <a:ext cx="292608" cy="201168"/>
          </a:xfrm>
          <a:prstGeom prst="triangl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365760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coords = lista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da LineString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822960"/>
            <a:ext cx="2834640" cy="352044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38100">
            <a:solidFill>
              <a:srgbClr val="C0612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822960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82296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🏘️  FreguesiaStat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14813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n_estacionamentos: int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0" y="18288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capacidade_total: int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0" y="21762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km_rede_ciclavel: double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0" y="252374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estac_por_km: double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0" y="28712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capacidades: vector&lt;int&gt;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17920" y="3566160"/>
            <a:ext cx="2834640" cy="685800"/>
          </a:xfrm>
          <a:prstGeom prst="roundRect">
            <a:avLst>
              <a:gd name="adj" fmla="val 26667"/>
            </a:avLst>
          </a:prstGeom>
          <a:solidFill>
            <a:srgbClr val="E67E22"/>
          </a:solidFill>
          <a:ln w="31750">
            <a:solidFill>
              <a:srgbClr val="C0612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537960" y="4233672"/>
            <a:ext cx="292608" cy="201168"/>
          </a:xfrm>
          <a:prstGeom prst="triangl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82512" y="365760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auxiliar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escrito em CSV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8595360" cy="594360"/>
          </a:xfrm>
          <a:prstGeom prst="roundRect">
            <a:avLst>
              <a:gd name="adj" fmla="val 23077"/>
            </a:avLst>
          </a:prstGeom>
          <a:solidFill>
            <a:srgbClr val="1A9B54"/>
          </a:solidFill>
          <a:ln w="12700">
            <a:solidFill>
              <a:srgbClr val="1A9B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geojson_reader.h  —  O Detetive do JSON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29968" cy="3977640"/>
          </a:xfrm>
          <a:prstGeom prst="roundRect">
            <a:avLst>
              <a:gd name="adj" fmla="val 6757"/>
            </a:avLst>
          </a:prstGeom>
          <a:solidFill>
            <a:srgbClr val="E8F5E9"/>
          </a:solidFill>
          <a:ln w="38100">
            <a:solidFill>
              <a:srgbClr val="1A9B5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84048" y="150876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o ficheiro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1847088" cy="1005840"/>
          </a:xfrm>
          <a:prstGeom prst="roundRect">
            <a:avLst>
              <a:gd name="adj" fmla="val 9091"/>
            </a:avLst>
          </a:prstGeom>
          <a:solidFill>
            <a:srgbClr val="1E1E1E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6596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std::ifstream file(path);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(!file.is_open()) return {};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3063240"/>
            <a:ext cx="1847088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25400">
            <a:solidFill>
              <a:srgbClr val="1A9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3081528"/>
            <a:ext cx="18105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não existe,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avisa e devolve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vazio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822960"/>
            <a:ext cx="2029968" cy="3977640"/>
          </a:xfrm>
          <a:prstGeom prst="roundRect">
            <a:avLst>
              <a:gd name="adj" fmla="val 6757"/>
            </a:avLst>
          </a:prstGeom>
          <a:solidFill>
            <a:srgbClr val="FFF9C4"/>
          </a:solidFill>
          <a:ln w="38100">
            <a:solidFill>
              <a:srgbClr val="E67E2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70048" y="9144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96896" y="150876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do JSON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78608" y="1920240"/>
            <a:ext cx="1847088" cy="1005840"/>
          </a:xfrm>
          <a:prstGeom prst="roundRect">
            <a:avLst>
              <a:gd name="adj" fmla="val 9091"/>
            </a:avLst>
          </a:prstGeom>
          <a:solidFill>
            <a:srgbClr val="1E1E1E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196596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root;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&gt;&gt; root;  // nlohmann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78608" y="3063240"/>
            <a:ext cx="1847088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96896" y="3081528"/>
            <a:ext cx="18105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TUDO para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memória de uma vez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0016" y="822960"/>
            <a:ext cx="2029968" cy="3977640"/>
          </a:xfrm>
          <a:prstGeom prst="roundRect">
            <a:avLst>
              <a:gd name="adj" fmla="val 6757"/>
            </a:avLst>
          </a:prstGeom>
          <a:solidFill>
            <a:srgbClr val="FFF0EE"/>
          </a:solidFill>
          <a:ln w="38100">
            <a:solidFill>
              <a:srgbClr val="E74C3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82896" y="9144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809744" y="150876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Null-safe!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91456" y="1920240"/>
            <a:ext cx="1847088" cy="1005840"/>
          </a:xfrm>
          <a:prstGeom prst="roundRect">
            <a:avLst>
              <a:gd name="adj" fmla="val 9091"/>
            </a:avLst>
          </a:prstGeom>
          <a:solidFill>
            <a:srgbClr val="1E1E1E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7176" y="196596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(feat["geometry"]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.is_null()) continue;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91456" y="3063240"/>
            <a:ext cx="1847088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3081528"/>
            <a:ext cx="18105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registo REAL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CML tem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geometria nula!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12864" y="822960"/>
            <a:ext cx="2029968" cy="3977640"/>
          </a:xfrm>
          <a:prstGeom prst="roundRect">
            <a:avLst>
              <a:gd name="adj" fmla="val 6757"/>
            </a:avLst>
          </a:prstGeom>
          <a:solidFill>
            <a:srgbClr val="F3EEFF"/>
          </a:solidFill>
          <a:ln w="38100">
            <a:solidFill>
              <a:srgbClr val="9B59B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95744" y="9144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022592" y="150876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o quê?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004304" y="1920240"/>
            <a:ext cx="1847088" cy="1005840"/>
          </a:xfrm>
          <a:prstGeom prst="roundRect">
            <a:avLst>
              <a:gd name="adj" fmla="val 9091"/>
            </a:avLst>
          </a:prstGeom>
          <a:solidFill>
            <a:srgbClr val="1E1E1E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0024" y="196596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(type=="LineString") {...}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(type=="Multi") {...}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04304" y="3063240"/>
            <a:ext cx="1847088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22592" y="3081528"/>
            <a:ext cx="18105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segmentos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MultiLine-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String. Achatados!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 rot="5400000">
            <a:off x="2258568" y="2377440"/>
            <a:ext cx="164592" cy="164592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5400000">
            <a:off x="4471416" y="2377440"/>
            <a:ext cx="164592" cy="164592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5400000">
            <a:off x="6684264" y="2377440"/>
            <a:ext cx="164592" cy="164592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8595360" cy="594360"/>
          </a:xfrm>
          <a:prstGeom prst="roundRect">
            <a:avLst>
              <a:gd name="adj" fmla="val 2307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utils.h  —  O Hospital das Datas e Coordenadas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38912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38100">
            <a:solidFill>
              <a:srgbClr val="E67E2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  normalizeDate() — 3 Pacientes, 1 Diagnóstico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americano (MM/DD/YYYY)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0E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01/15/2023 09:30:00 AM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31720" y="15544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1554480"/>
            <a:ext cx="1737360" cy="256032"/>
          </a:xfrm>
          <a:prstGeom prst="roundRect">
            <a:avLst>
              <a:gd name="adj" fmla="val 28571"/>
            </a:avLst>
          </a:prstGeom>
          <a:solidFill>
            <a:srgbClr val="E8F5E9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554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9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2023-01-15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8601 (já normalizado!)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0E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2022-11-08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31720" y="20574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0" y="2057400"/>
            <a:ext cx="1737360" cy="256032"/>
          </a:xfrm>
          <a:prstGeom prst="roundRect">
            <a:avLst>
              <a:gd name="adj" fmla="val 28571"/>
            </a:avLst>
          </a:prstGeom>
          <a:solidFill>
            <a:srgbClr val="E8F5E9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057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9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2022-11-08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3774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português (DD/MM/YYYY)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0E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60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08/03/2021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31720" y="2560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0" y="2560320"/>
            <a:ext cx="1737360" cy="256032"/>
          </a:xfrm>
          <a:prstGeom prst="roundRect">
            <a:avLst>
              <a:gd name="adj" fmla="val 28571"/>
            </a:avLst>
          </a:prstGeom>
          <a:solidFill>
            <a:srgbClr val="E8F5E9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2560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9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2021-03-08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822960"/>
            <a:ext cx="4023360" cy="393192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38100">
            <a:solidFill>
              <a:srgbClr val="2471A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mercatorToWGS84() — Tradução de Idiomas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1417320"/>
            <a:ext cx="3474720" cy="640080"/>
          </a:xfrm>
          <a:prstGeom prst="roundRect">
            <a:avLst>
              <a:gd name="adj" fmla="val 28571"/>
            </a:avLst>
          </a:prstGeom>
          <a:solidFill>
            <a:srgbClr val="FFF0EE"/>
          </a:solidFill>
          <a:ln w="31750">
            <a:solidFill>
              <a:srgbClr val="E74C3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57800" y="2039112"/>
            <a:ext cx="292608" cy="201168"/>
          </a:xfrm>
          <a:prstGeom prst="triangle">
            <a:avLst/>
          </a:prstGeom>
          <a:solidFill>
            <a:srgbClr val="FFF0EE"/>
          </a:solidFill>
          <a:ln w="12700">
            <a:solidFill>
              <a:srgbClr val="FFF0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150876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digo: x=-1 018 734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me entende!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219456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22677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R = 6378137.0; // WGS84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74920" y="2514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 = x / R * (180 / π);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4920" y="27614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 = (2·atan(exp(y/R)) - π/2)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74920" y="30083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× (180 / π);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3429000"/>
            <a:ext cx="3474720" cy="640080"/>
          </a:xfrm>
          <a:prstGeom prst="roundRect">
            <a:avLst>
              <a:gd name="adj" fmla="val 28571"/>
            </a:avLst>
          </a:prstGeom>
          <a:solidFill>
            <a:srgbClr val="E8F5E9"/>
          </a:solidFill>
          <a:ln w="31750">
            <a:solidFill>
              <a:srgbClr val="1A9B5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257800" y="4050792"/>
            <a:ext cx="292608" cy="201168"/>
          </a:xfrm>
          <a:prstGeom prst="triangl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02352" y="352044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lon=-9.135, lat=38.724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o mundo entende!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0" y="4224528"/>
            <a:ext cx="2377440" cy="457200"/>
          </a:xfrm>
          <a:prstGeom prst="roundRect">
            <a:avLst>
              <a:gd name="adj" fmla="val 30000"/>
            </a:avLst>
          </a:prstGeom>
          <a:solidFill>
            <a:srgbClr val="F1C40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4224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pyproj! Só matemática 🧮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8595360" cy="594360"/>
          </a:xfrm>
          <a:prstGeom prst="roundRect">
            <a:avLst>
              <a:gd name="adj" fmla="val 23077"/>
            </a:avLst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statistics.h  —  O Fichário Mágico e o Árbitro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84632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38100">
            <a:solidFill>
              <a:srgbClr val="2471A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🗃️  std::map — O fichário que se organiza sozinho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663440" cy="1463040"/>
          </a:xfrm>
          <a:prstGeom prst="roundRect">
            <a:avLst>
              <a:gd name="adj" fmla="val 11250"/>
            </a:avLst>
          </a:prstGeom>
          <a:solidFill>
            <a:srgbClr val="1E1E1E"/>
          </a:solidFill>
          <a:ln w="25400">
            <a:solidFill>
              <a:srgbClr val="2ECC7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81328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81328"/>
            <a:ext cx="164592" cy="16459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48132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708237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std::map&lt;string, FreguesiaStat&gt; agg;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000845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117355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auto&amp; e : estac) {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409963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FreguesiaStat&amp; s = agg[e.freguesia];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878669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s.capacidade_total += e.capacidade;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3218688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4663440" cy="685800"/>
          </a:xfrm>
          <a:prstGeom prst="roundRect">
            <a:avLst>
              <a:gd name="adj" fmla="val 26667"/>
            </a:avLst>
          </a:prstGeom>
          <a:solidFill>
            <a:srgbClr val="FFF9DB"/>
          </a:solidFill>
          <a:ln w="31750">
            <a:solidFill>
              <a:srgbClr val="E67E2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639312"/>
            <a:ext cx="292608" cy="201168"/>
          </a:xfrm>
          <a:prstGeom prst="triangle">
            <a:avLst/>
          </a:prstGeom>
          <a:solidFill>
            <a:srgbClr val="FFF9DB"/>
          </a:solidFill>
          <a:ln w="12700">
            <a:solidFill>
              <a:srgbClr val="FFF9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063240"/>
            <a:ext cx="4334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agg["Alvalade"] — se não existe, cria automaticamente! O(log k) por acesso. Uma passagem = 24 freguesias!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0" y="822960"/>
            <a:ext cx="356616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38100">
            <a:solidFill>
              <a:srgbClr val="9B59B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0" y="914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std::sort + lambda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árbitro do ranking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94960" y="1508760"/>
            <a:ext cx="3383280" cy="1417320"/>
          </a:xfrm>
          <a:prstGeom prst="roundRect">
            <a:avLst>
              <a:gd name="adj" fmla="val 11613"/>
            </a:avLst>
          </a:prstGeom>
          <a:solidFill>
            <a:srgbClr val="1E1E1E"/>
          </a:solidFill>
          <a:ln w="25400">
            <a:solidFill>
              <a:srgbClr val="2ECC7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77840" y="1618488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1618488"/>
            <a:ext cx="164592" cy="16459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61848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9552" y="1858943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std::sort(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59552" y="2151551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stats.begin(),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59552" y="2444159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stats.end(),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59552" y="266903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[](const auto&amp; a,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59552" y="306324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const auto&amp; b) {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59552" y="335584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a.cap &gt; b.cap;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59552" y="364845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94960" y="2999232"/>
            <a:ext cx="3383280" cy="685800"/>
          </a:xfrm>
          <a:prstGeom prst="roundRect">
            <a:avLst>
              <a:gd name="adj" fmla="val 26667"/>
            </a:avLst>
          </a:prstGeom>
          <a:solidFill>
            <a:srgbClr val="F3EEFF"/>
          </a:solidFill>
          <a:ln w="31750">
            <a:solidFill>
              <a:srgbClr val="9B59B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15000" y="3666744"/>
            <a:ext cx="292608" cy="201168"/>
          </a:xfrm>
          <a:prstGeom prst="triangle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9552" y="309067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Lambda: função anónima passada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argumento. O(k log k) com k=24.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Instantâneo!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886200"/>
            <a:ext cx="8595360" cy="594360"/>
          </a:xfrm>
          <a:prstGeom prst="roundRect">
            <a:avLst>
              <a:gd name="adj" fmla="val 18462"/>
            </a:avLst>
          </a:prstGeom>
          <a:solidFill>
            <a:srgbClr val="1B2838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886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Complexidade: leitura O(n log k) com n=2209, k=24 · Sort O(k log k) ≈ 117 operações · Total: milissegundos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8595360" cy="594360"/>
          </a:xfrm>
          <a:prstGeom prst="roundRect">
            <a:avLst>
              <a:gd name="adj" fmla="val 2307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writer.h  —  A Máquina de Imprimir 13 Ficheiros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38100">
            <a:solidFill>
              <a:srgbClr val="E74C3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csvEscape() — O Guarda da Vírgula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931920" cy="1463040"/>
          </a:xfrm>
          <a:prstGeom prst="roundRect">
            <a:avLst>
              <a:gd name="adj" fmla="val 11250"/>
            </a:avLst>
          </a:prstGeom>
          <a:solidFill>
            <a:srgbClr val="1E1E1E"/>
          </a:solidFill>
          <a:ln w="25400">
            <a:solidFill>
              <a:srgbClr val="2ECC7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81328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81328"/>
            <a:ext cx="164592" cy="16459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48132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75564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"Rua das Flores, 12" → campo com vírgula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048256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(s.find(",") != npos)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28668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"\"" + s + "\"";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525104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Resultado: """Rua das Flores, 12"""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822960"/>
            <a:ext cx="429768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38100">
            <a:solidFill>
              <a:srgbClr val="2471A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writeGeoJSON() — Recria o mapa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4114800" cy="1463040"/>
          </a:xfrm>
          <a:prstGeom prst="roundRect">
            <a:avLst>
              <a:gd name="adj" fmla="val 11250"/>
            </a:avLst>
          </a:prstGeom>
          <a:solidFill>
            <a:srgbClr val="1E1E1E"/>
          </a:solidFill>
          <a:ln w="25400">
            <a:solidFill>
              <a:srgbClr val="2ECC7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481328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4920" y="1481328"/>
            <a:ext cx="164592" cy="16459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48132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681145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feat["type"] = "Feature";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1973753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feat["geometry"]["type"] = "Point";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2266361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feat["geometry"]["coordinates"]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28032" y="2558969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{e.lon, e.lat};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108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O que sai da máquina: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352044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5478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cleaned_*.csv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450592" y="3611880"/>
            <a:ext cx="502920" cy="274320"/>
          </a:xfrm>
          <a:prstGeom prst="roundRect">
            <a:avLst>
              <a:gd name="adj" fmla="val 2666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50592" y="36118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46120" y="352044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35478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normalized_*.csv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22392" y="3611880"/>
            <a:ext cx="502920" cy="274320"/>
          </a:xfrm>
          <a:prstGeom prst="roundRect">
            <a:avLst>
              <a:gd name="adj" fmla="val 2666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22392" y="36118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352044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35478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estatisticas.csv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94192" y="3611880"/>
            <a:ext cx="502920" cy="274320"/>
          </a:xfrm>
          <a:prstGeom prst="roundRect">
            <a:avLst>
              <a:gd name="adj" fmla="val 2666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94192" y="36118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050792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407822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top_10_*.csv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450592" y="4142232"/>
            <a:ext cx="502920" cy="274320"/>
          </a:xfrm>
          <a:prstGeom prst="roundRect">
            <a:avLst>
              <a:gd name="adj" fmla="val 2666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50592" y="41422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46120" y="4050792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55848" y="407822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distribuicao_*.csv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22392" y="4142232"/>
            <a:ext cx="502920" cy="274320"/>
          </a:xfrm>
          <a:prstGeom prst="roundRect">
            <a:avLst>
              <a:gd name="adj" fmla="val 2666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22392" y="41422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17920" y="4050792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27648" y="407822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histograma_*.csv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394192" y="4142232"/>
            <a:ext cx="502920" cy="274320"/>
          </a:xfrm>
          <a:prstGeom prst="roundRect">
            <a:avLst>
              <a:gd name="adj" fmla="val 2666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94192" y="41422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4581144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46085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*.geojson (×2)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450592" y="4672584"/>
            <a:ext cx="502920" cy="274320"/>
          </a:xfrm>
          <a:prstGeom prst="roundRect">
            <a:avLst>
              <a:gd name="adj" fmla="val 2666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50592" y="46725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46120" y="4581144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55848" y="46085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agregacao_*.csv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422392" y="4672584"/>
            <a:ext cx="502920" cy="274320"/>
          </a:xfrm>
          <a:prstGeom prst="roundRect">
            <a:avLst>
              <a:gd name="adj" fmla="val 2666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22392" y="46725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17920" y="4581144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27648" y="46085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ranking_*.csv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394192" y="4672584"/>
            <a:ext cx="502920" cy="274320"/>
          </a:xfrm>
          <a:prstGeom prst="roundRect">
            <a:avLst>
              <a:gd name="adj" fmla="val 2666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94192" y="46725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main.cpp — O Maestro da Orquestra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8503920" cy="3383280"/>
          </a:xfrm>
          <a:prstGeom prst="roundRect">
            <a:avLst>
              <a:gd name="adj" fmla="val 4865"/>
            </a:avLst>
          </a:prstGeom>
          <a:solidFill>
            <a:srgbClr val="1E1E1E"/>
          </a:solidFill>
          <a:ln w="25400">
            <a:solidFill>
              <a:srgbClr val="2ECC7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886968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86968"/>
            <a:ext cx="164592" cy="16459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88696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61288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main(int argc, char* argv[]) {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453896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Configura caminhos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746504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dataDir = (argc&gt;1) ? argv[1] : "./data";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" y="2039112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" y="2331720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TAREFA 1 — Leitura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2624328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 estac = geojson_reader::loadEstacionamento(PATH_ESTAC);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2916936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 cic   = geojson_reader::loadCiclovias(PATH_CIC);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" y="3209544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 mob   = csv_reader::loadMobilidade(PATH_MOB);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" y="3502152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TAREFA 2 — Normalização já feita nos readers!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3794760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statistics::printDescriptiveStats(estac, cic);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" y="4087368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TAREFA 3 — Estatísticas e GeoJSON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4379976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 stats = statistics::aggregateByFreguesia(estac, cic);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" y="4672584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TAREFA 4 — Ranking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" y="4965192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 ranked = statistics::rankByCapacidade(stats);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" y="5257800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writer::writeRankingFreguesias(ranked, outDir+...);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315968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F1C40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1596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  O main não faz nada por si mesmo — só chama os outros. Baixo acoplamento! Cada módulo é testável individualmente.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Demo ao Vivo!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713232"/>
            <a:ext cx="5029200" cy="1325880"/>
          </a:xfrm>
          <a:prstGeom prst="roundRect">
            <a:avLst>
              <a:gd name="adj" fmla="val 10345"/>
            </a:avLst>
          </a:prstGeom>
          <a:solidFill>
            <a:srgbClr val="1E1E1E"/>
          </a:solidFill>
          <a:ln w="38100">
            <a:solidFill>
              <a:srgbClr val="2ECC7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777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g++ -std=c++17 -O2 \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-I/usr/include -Iinclude -Isrc \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-o mobilidade src/main.cpp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713232"/>
            <a:ext cx="3383280" cy="1325880"/>
          </a:xfrm>
          <a:prstGeom prst="roundRect">
            <a:avLst>
              <a:gd name="adj" fmla="val 10345"/>
            </a:avLst>
          </a:prstGeom>
          <a:solidFill>
            <a:srgbClr val="1E1E1E"/>
          </a:solidFill>
          <a:ln w="38100">
            <a:solidFill>
              <a:srgbClr val="E67E2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777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23560" y="1097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./mobilidade data output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output/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176272"/>
            <a:ext cx="8595360" cy="2331720"/>
          </a:xfrm>
          <a:prstGeom prst="roundRect">
            <a:avLst>
              <a:gd name="adj" fmla="val 7059"/>
            </a:avLst>
          </a:prstGeom>
          <a:solidFill>
            <a:srgbClr val="1E1E1E"/>
          </a:solidFill>
          <a:ln w="25400">
            <a:solidFill>
              <a:srgbClr val="2ECC7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286000"/>
            <a:ext cx="164592" cy="16459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28600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472271"/>
            <a:ext cx="8266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════ TAREFA 1 ════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2764879"/>
            <a:ext cx="8266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[T1] Estacionamento GeoJSON: 2209 registos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3057487"/>
            <a:ext cx="8266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[T1] Rede ciclavel GeoJSON: 1025 segmentos (ignorados 1 sem geometria)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3350095"/>
            <a:ext cx="8266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════ TAREFA 2 ════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642703"/>
            <a:ext cx="8266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[T2] Normalização: datas ISO · COBERTO→bool · coords WGS84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935311"/>
            <a:ext cx="8266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════ TAREFA 3 ════  [T3] 11 ficheiros CSV + 2 GeoJSON gerados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4214373"/>
            <a:ext cx="8266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════ TAREFA 4 ════  [T4] Ranking: Alvalade #1 (1904 lugares)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4608576"/>
            <a:ext cx="8266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Pipeline concluído. 13 ficheiros em: output/                     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640080"/>
            <a:ext cx="2560320" cy="2560320"/>
          </a:xfrm>
          <a:prstGeom prst="ellipse">
            <a:avLst/>
          </a:prstGeom>
          <a:solidFill>
            <a:srgbClr val="F1C40F"/>
          </a:solidFill>
          <a:ln w="38100">
            <a:solidFill>
              <a:srgbClr val="E67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128016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274320"/>
            <a:ext cx="128016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74320"/>
            <a:ext cx="8595360" cy="731520"/>
          </a:xfrm>
          <a:prstGeom prst="roundRect">
            <a:avLst>
              <a:gd name="adj" fmla="val 25000"/>
            </a:avLst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Equipa Completa — Missão Cumprida! 🎉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1097280" cy="1828800"/>
          </a:xfrm>
          <a:prstGeom prst="roundRect">
            <a:avLst>
              <a:gd name="adj" fmla="val 12500"/>
            </a:avLst>
          </a:prstGeom>
          <a:solidFill>
            <a:srgbClr val="F3EEFF"/>
          </a:solidFill>
          <a:ln w="38100">
            <a:solidFill>
              <a:srgbClr val="9B59B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261872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240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structs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27048" y="1170432"/>
            <a:ext cx="1097280" cy="1828800"/>
          </a:xfrm>
          <a:prstGeom prst="roundRect">
            <a:avLst>
              <a:gd name="adj" fmla="val 12500"/>
            </a:avLst>
          </a:prstGeom>
          <a:solidFill>
            <a:srgbClr val="FFF9DB"/>
          </a:solidFill>
          <a:ln w="38100">
            <a:solidFill>
              <a:srgbClr val="E67E2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36776" y="1261872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72768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72768" y="2240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canivete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79776" y="1170432"/>
            <a:ext cx="1097280" cy="1828800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 w="38100">
            <a:solidFill>
              <a:srgbClr val="1A9B5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89504" y="1261872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825496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csv_reader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25496" y="2240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leitor CSV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32504" y="1170432"/>
            <a:ext cx="1097280" cy="1828800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 w="38100">
            <a:solidFill>
              <a:srgbClr val="1A9B5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42232" y="1261872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078224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geojson_reader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78224" y="2240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detetive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85232" y="1170432"/>
            <a:ext cx="1097280" cy="1828800"/>
          </a:xfrm>
          <a:prstGeom prst="roundRect">
            <a:avLst>
              <a:gd name="adj" fmla="val 12500"/>
            </a:avLst>
          </a:prstGeom>
          <a:solidFill>
            <a:srgbClr val="EAF2FF"/>
          </a:solidFill>
          <a:ln w="38100">
            <a:solidFill>
              <a:srgbClr val="2471A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94960" y="1261872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330952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30952" y="2240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analista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37960" y="1170432"/>
            <a:ext cx="1097280" cy="1828800"/>
          </a:xfrm>
          <a:prstGeom prst="roundRect">
            <a:avLst>
              <a:gd name="adj" fmla="val 12500"/>
            </a:avLst>
          </a:prstGeom>
          <a:solidFill>
            <a:srgbClr val="FFF0EE"/>
          </a:solidFill>
          <a:ln w="38100">
            <a:solidFill>
              <a:srgbClr val="E74C3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647688" y="1261872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🖨️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583680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0" y="2240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impressora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790688" y="1170432"/>
            <a:ext cx="1097280" cy="1828800"/>
          </a:xfrm>
          <a:prstGeom prst="roundRect">
            <a:avLst>
              <a:gd name="adj" fmla="val 12500"/>
            </a:avLst>
          </a:prstGeom>
          <a:solidFill>
            <a:srgbClr val="FFF0EE"/>
          </a:solidFill>
          <a:ln w="38100">
            <a:solidFill>
              <a:srgbClr val="E74C3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900416" y="1261872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🎭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836408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36408" y="2240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maestro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3127248"/>
            <a:ext cx="9144000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364992"/>
            <a:ext cx="9144000" cy="137160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931920"/>
            <a:ext cx="731520" cy="9144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28800" y="3931920"/>
            <a:ext cx="731520" cy="9144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3931920"/>
            <a:ext cx="731520" cy="9144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0" y="3931920"/>
            <a:ext cx="731520" cy="9144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931920"/>
            <a:ext cx="731520" cy="9144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0" y="3931920"/>
            <a:ext cx="731520" cy="9144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" y="2788920"/>
            <a:ext cx="1463040" cy="1463040"/>
          </a:xfrm>
          <a:prstGeom prst="ellipse">
            <a:avLst/>
          </a:prstGeom>
          <a:solidFill>
            <a:srgbClr val="2ECC71">
              <a:alpha val="35000"/>
            </a:srgbClr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880360"/>
            <a:ext cx="1097280" cy="1097280"/>
          </a:xfrm>
          <a:prstGeom prst="rect">
            <a:avLst/>
          </a:prstGeom>
        </p:spPr>
      </p:pic>
      <p:sp>
        <p:nvSpPr>
          <p:cNvPr id="45" name="Shape 42"/>
          <p:cNvSpPr/>
          <p:nvPr/>
        </p:nvSpPr>
        <p:spPr>
          <a:xfrm>
            <a:off x="1554480" y="3200400"/>
            <a:ext cx="566928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C3E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1691640" y="32004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C++17 · STL pura · nlohmann/json · 13 ficheiros · dados.cm-lisboa.pt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7360920" y="3200400"/>
            <a:ext cx="1554480" cy="731520"/>
          </a:xfrm>
          <a:prstGeom prst="roundRect">
            <a:avLst>
              <a:gd name="adj" fmla="val 18750"/>
            </a:avLst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pic>
        <p:nvPicPr>
          <p:cNvPr id="4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310128"/>
            <a:ext cx="365760" cy="365760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7863840" y="32461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1407</Words>
  <Application>Microsoft Office PowerPoint</Application>
  <PresentationFormat>Apresentação no Ecrã (16:9)</PresentationFormat>
  <Paragraphs>248</Paragraphs>
  <Slides>10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Vídeo Técnico — Mobilidade Lisboa Cartoon</dc:title>
  <dc:subject>PptxGenJS Presentation</dc:subject>
  <dc:creator>PptxGenJS</dc:creator>
  <cp:lastModifiedBy>Andre manuel pereira</cp:lastModifiedBy>
  <cp:revision>4</cp:revision>
  <dcterms:created xsi:type="dcterms:W3CDTF">2026-06-16T16:12:50Z</dcterms:created>
  <dcterms:modified xsi:type="dcterms:W3CDTF">2026-06-16T17:17:55Z</dcterms:modified>
</cp:coreProperties>
</file>