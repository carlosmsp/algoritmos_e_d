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7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Capacidade</c:v>
                </c:pt>
              </c:strCache>
            </c:strRef>
          </c:tx>
          <c:spPr>
            <a:solidFill>
              <a:srgbClr val="F1C40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DED-492B-ABBA-9375C10D945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DED-492B-ABBA-9375C10D945C}"/>
              </c:ext>
            </c:extLst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DED-492B-ABBA-9375C10D945C}"/>
              </c:ext>
            </c:extLst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DED-492B-ABBA-9375C10D945C}"/>
              </c:ext>
            </c:extLst>
          </c:dPt>
          <c:dPt>
            <c:idx val="4"/>
            <c:invertIfNegative val="0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DED-492B-ABBA-9375C10D945C}"/>
              </c:ext>
            </c:extLst>
          </c:dPt>
          <c:dPt>
            <c:idx val="5"/>
            <c:invertIfNegative val="0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DED-492B-ABBA-9375C10D945C}"/>
              </c:ext>
            </c:extLst>
          </c:dPt>
          <c:dPt>
            <c:idx val="6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DED-492B-ABBA-9375C10D945C}"/>
              </c:ext>
            </c:extLst>
          </c:dPt>
          <c:dPt>
            <c:idx val="7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DED-492B-ABBA-9375C10D945C}"/>
              </c:ext>
            </c:extLst>
          </c:dPt>
          <c:dPt>
            <c:idx val="8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DED-492B-ABBA-9375C10D945C}"/>
              </c:ext>
            </c:extLst>
          </c:dPt>
          <c:dPt>
            <c:idx val="9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9DED-492B-ABBA-9375C10D945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2C3E50"/>
                    </a:solidFill>
                    <a:latin typeface="Arial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Alvalade</c:v>
                </c:pt>
                <c:pt idx="1">
                  <c:v>Av. Novas</c:v>
                </c:pt>
                <c:pt idx="2">
                  <c:v>Lumiar</c:v>
                </c:pt>
                <c:pt idx="3">
                  <c:v>P. Nações</c:v>
                </c:pt>
                <c:pt idx="4">
                  <c:v>Marvila</c:v>
                </c:pt>
                <c:pt idx="5">
                  <c:v>Olivais</c:v>
                </c:pt>
                <c:pt idx="6">
                  <c:v>Arroios</c:v>
                </c:pt>
                <c:pt idx="7">
                  <c:v>Benfica</c:v>
                </c:pt>
                <c:pt idx="8">
                  <c:v>Campolide</c:v>
                </c:pt>
                <c:pt idx="9">
                  <c:v>S. António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1904</c:v>
                </c:pt>
                <c:pt idx="1">
                  <c:v>1874</c:v>
                </c:pt>
                <c:pt idx="2">
                  <c:v>1337</c:v>
                </c:pt>
                <c:pt idx="3">
                  <c:v>1144</c:v>
                </c:pt>
                <c:pt idx="4">
                  <c:v>1087</c:v>
                </c:pt>
                <c:pt idx="5">
                  <c:v>1055</c:v>
                </c:pt>
                <c:pt idx="6">
                  <c:v>1016</c:v>
                </c:pt>
                <c:pt idx="7">
                  <c:v>836</c:v>
                </c:pt>
                <c:pt idx="8">
                  <c:v>801</c:v>
                </c:pt>
                <c:pt idx="9">
                  <c:v>797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9DED-492B-ABBA-9375C10D94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5A5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E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F0FD8-8E9F-41B0-A0B0-7D4BC5AB49EB}" type="datetimeFigureOut">
              <a:t>16/06/2026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F2E40-6001-4190-8E6D-133F68371766}" type="slidenum"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8220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divertida. Tom: 'E se os dados de Lisboa fossem uma aventura?'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dados queixam-se! Humanizar o problema com humor. ~25s.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dramático: o programa 'salva' os dados. Mostrar terminal real. ~25s.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Antes/Depois lado a lado. Humor nos problemas reais. ~20s.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com impacto visual. Fun fact para humor. ~20s.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 com medalhas. O 'plot twist' de Benfica cria interesse. ~25s.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kepler.gl ao vivo. Carregar os GeoJSON ANTES de gravar! ~30s.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 divertido. A bicicleta 'sai de cena' pela estrada. ~10s.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2560320" cy="2560320"/>
          </a:xfrm>
          <a:prstGeom prst="ellipse">
            <a:avLst/>
          </a:prstGeom>
          <a:solidFill>
            <a:srgbClr val="F1C40F"/>
          </a:solidFill>
          <a:ln w="38100">
            <a:solidFill>
              <a:srgbClr val="E67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731520"/>
            <a:ext cx="54864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41942" y="1325880"/>
            <a:ext cx="475136" cy="27432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840" y="1760982"/>
            <a:ext cx="274320" cy="475136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1920240"/>
            <a:ext cx="0" cy="54864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1760982"/>
            <a:ext cx="0" cy="475136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83018" y="1325880"/>
            <a:ext cx="0" cy="27432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"/>
            <a:ext cx="146304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-45720"/>
            <a:ext cx="91440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457200"/>
            <a:ext cx="146304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28600"/>
            <a:ext cx="91440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137160"/>
            <a:ext cx="146304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-91440"/>
            <a:ext cx="91440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931920"/>
            <a:ext cx="9144000" cy="128016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462272"/>
            <a:ext cx="731520" cy="10972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4462272"/>
            <a:ext cx="731520" cy="10972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4462272"/>
            <a:ext cx="731520" cy="10972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4462272"/>
            <a:ext cx="731520" cy="10972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4462272"/>
            <a:ext cx="731520" cy="10972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4462272"/>
            <a:ext cx="731520" cy="10972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0"/>
            <a:ext cx="9144000" cy="320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834640"/>
            <a:ext cx="1188720" cy="11887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137160" y="2743200"/>
            <a:ext cx="1645920" cy="1645920"/>
          </a:xfrm>
          <a:prstGeom prst="ellipse">
            <a:avLst/>
          </a:prstGeom>
          <a:solidFill>
            <a:srgbClr val="2ECC71">
              <a:alpha val="40000"/>
            </a:srgbClr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0"/>
            <a:ext cx="1097280" cy="109728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1645920" y="1188720"/>
            <a:ext cx="5669280" cy="237744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44450">
            <a:solidFill>
              <a:srgbClr val="2C3E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1920240" y="13716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MOBILIDADE URBANA</a:t>
            </a:r>
            <a:endParaRPr lang="en-US" sz="3800" dirty="0"/>
          </a:p>
        </p:txBody>
      </p:sp>
      <p:sp>
        <p:nvSpPr>
          <p:cNvPr id="28" name="Text 24"/>
          <p:cNvSpPr/>
          <p:nvPr/>
        </p:nvSpPr>
        <p:spPr>
          <a:xfrm>
            <a:off x="1920240" y="20116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LISBOA</a:t>
            </a:r>
            <a:endParaRPr lang="en-US" sz="4800" dirty="0"/>
          </a:p>
        </p:txBody>
      </p:sp>
      <p:sp>
        <p:nvSpPr>
          <p:cNvPr id="29" name="Text 25"/>
          <p:cNvSpPr/>
          <p:nvPr/>
        </p:nvSpPr>
        <p:spPr>
          <a:xfrm>
            <a:off x="1920240" y="2743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aventura dos dados abertos da CML em C++17!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 rot="900000">
            <a:off x="109728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3200" dirty="0"/>
          </a:p>
        </p:txBody>
      </p:sp>
      <p:sp>
        <p:nvSpPr>
          <p:cNvPr id="31" name="Text 27"/>
          <p:cNvSpPr/>
          <p:nvPr/>
        </p:nvSpPr>
        <p:spPr>
          <a:xfrm rot="-600000">
            <a:off x="7498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1: O Caos dos Dados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2743200" cy="3566160"/>
          </a:xfrm>
          <a:prstGeom prst="roundRect">
            <a:avLst>
              <a:gd name="adj" fmla="val 5000"/>
            </a:avLst>
          </a:prstGeom>
          <a:solidFill>
            <a:srgbClr val="FFF0EE"/>
          </a:solidFill>
          <a:ln w="38100">
            <a:solidFill>
              <a:srgbClr val="2C3E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0584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GeoJSON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21945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2 209 pontos espalhados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Lisboa, um deles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geometria nenhuma!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Socorro, sou NULL!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21945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Socorro, sou NULL!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777240"/>
            <a:ext cx="2743200" cy="3566160"/>
          </a:xfrm>
          <a:prstGeom prst="roundRect">
            <a:avLst>
              <a:gd name="adj" fmla="val 5000"/>
            </a:avLst>
          </a:prstGeom>
          <a:solidFill>
            <a:srgbClr val="FFF9DB"/>
          </a:solidFill>
          <a:ln w="38100">
            <a:solidFill>
              <a:srgbClr val="2C3E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83280" y="1051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XLSX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38328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-1018734.28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4685942.11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566160" y="2423160"/>
            <a:ext cx="20116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66160" y="2423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Isto são coordenadas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i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um código nuclear?!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83280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Mercator EPSG:3857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ninguém me entende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777240"/>
            <a:ext cx="2743200" cy="3566160"/>
          </a:xfrm>
          <a:prstGeom prst="roundRect">
            <a:avLst>
              <a:gd name="adj" fmla="val 5000"/>
            </a:avLst>
          </a:prstGeom>
          <a:solidFill>
            <a:srgbClr val="F3EEFF"/>
          </a:solidFill>
          <a:ln w="38100">
            <a:solidFill>
              <a:srgbClr val="2C3E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005840"/>
            <a:ext cx="731520" cy="7315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30936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Ciclovias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309360" y="2194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1 026 segmentos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são MultiLineString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sem geometria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492240" y="3108960"/>
            <a:ext cx="20116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 Line ou Multi?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i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nem eu sei!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548640"/>
            <a:ext cx="4572000" cy="4114800"/>
          </a:xfrm>
          <a:prstGeom prst="ellipse">
            <a:avLst/>
          </a:prstGeom>
          <a:solidFill>
            <a:srgbClr val="F1C40F">
              <a:alpha val="20000"/>
            </a:srgbClr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914400"/>
            <a:ext cx="3657600" cy="3200400"/>
          </a:xfrm>
          <a:prstGeom prst="ellipse">
            <a:avLst/>
          </a:prstGeom>
          <a:solidFill>
            <a:srgbClr val="E67E22">
              <a:alpha val="2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640080"/>
            <a:ext cx="6400800" cy="3291840"/>
          </a:xfrm>
          <a:prstGeom prst="roundRect">
            <a:avLst>
              <a:gd name="adj" fmla="val 5556"/>
            </a:avLst>
          </a:prstGeom>
          <a:solidFill>
            <a:srgbClr val="1E1E1E"/>
          </a:solidFill>
          <a:ln w="38100">
            <a:solidFill>
              <a:srgbClr val="2ECC7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640080"/>
            <a:ext cx="640080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749808"/>
            <a:ext cx="182880" cy="1828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749808"/>
            <a:ext cx="182880" cy="18288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749808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640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mobilidade_lisboa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11430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./mobilidade data/ output/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144475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174650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[T1] Estacionamento: 2209 registos 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920" y="204825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[T1] Mobilidade CSV: 2214 registos 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35000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[T1] Rede ciclavel: 1025 segmentos 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26517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[T2] Normalização completa 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295351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[T3] 13 ficheiros gerados 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25526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[T4] Ranking: Alvalade #1 (1904 lug.) 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4114800"/>
            <a:ext cx="7315200" cy="777240"/>
          </a:xfrm>
          <a:prstGeom prst="roundRect">
            <a:avLst>
              <a:gd name="adj" fmla="val 17647"/>
            </a:avLst>
          </a:prstGeom>
          <a:solidFill>
            <a:srgbClr val="2ECC71"/>
          </a:solidFill>
          <a:ln w="25400">
            <a:solidFill>
              <a:srgbClr val="1A9B54"/>
            </a:solidFill>
            <a:prstDash val="solid"/>
          </a:ln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187952"/>
            <a:ext cx="502920" cy="5029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737360" y="4114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comando. Zero dependências externas. Menos de 1 segundo.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2: A Grande Transformação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3931920" cy="3840480"/>
          </a:xfrm>
          <a:prstGeom prst="roundRect">
            <a:avLst>
              <a:gd name="adj" fmla="val 3571"/>
            </a:avLst>
          </a:prstGeom>
          <a:solidFill>
            <a:srgbClr val="FFF0EE"/>
          </a:solidFill>
          <a:ln w="38100">
            <a:solidFill>
              <a:srgbClr val="2C3E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68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 em 3 formatos diferentes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COBERTO = 'Sim' / 'Não' / '' / NULL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Coordenadas em Web Mercator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= NULL (em 455 registos!)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MultiLineString misturadas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geometria completamente nula</a:t>
            </a:r>
            <a:endParaRPr lang="en-US" sz="11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103120"/>
            <a:ext cx="822960" cy="8229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977640" y="2926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C++17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937760" y="731520"/>
            <a:ext cx="3931920" cy="3840480"/>
          </a:xfrm>
          <a:prstGeom prst="roundRect">
            <a:avLst>
              <a:gd name="adj" fmla="val 3571"/>
            </a:avLst>
          </a:prstGeom>
          <a:solidFill>
            <a:srgbClr val="E8FFEF"/>
          </a:solidFill>
          <a:ln w="38100">
            <a:solidFill>
              <a:srgbClr val="2C3E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120640" y="868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1206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53212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em ISO 8601 (YYYY-MM-DD)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1206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53212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COBERTO = 0 ou 1 (bool limpo)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12064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53212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em WGS84 (lon/lat)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12064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53212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= 'Desconhecido' (tratado!)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1206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53212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LineStrings achatadas e unificadas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12064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53212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Geometria nula ignorada com elegância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91440"/>
            <a:ext cx="128016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274320"/>
            <a:ext cx="128016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0"/>
            <a:ext cx="128016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Épicos!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2468880" cy="2468880"/>
          </a:xfrm>
          <a:prstGeom prst="ellipse">
            <a:avLst/>
          </a:prstGeom>
          <a:solidFill>
            <a:srgbClr val="2ECC71">
              <a:alpha val="85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2651760" cy="32004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A9B5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🚲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18 922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lugares para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biclas e trotinetes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6888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29000" y="868680"/>
            <a:ext cx="2468880" cy="2468880"/>
          </a:xfrm>
          <a:prstGeom prst="ellipse">
            <a:avLst/>
          </a:prstGeom>
          <a:solidFill>
            <a:srgbClr val="3498DB">
              <a:alpha val="85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960120"/>
            <a:ext cx="2651760" cy="32004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2471A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2900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🛣️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83280" y="18288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288 km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3474720" y="2788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ciclovias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(Lisboa → Porto!)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9496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55080" y="868680"/>
            <a:ext cx="2468880" cy="2468880"/>
          </a:xfrm>
          <a:prstGeom prst="ellipse">
            <a:avLst/>
          </a:prstGeom>
          <a:solidFill>
            <a:srgbClr val="E67E22">
              <a:alpha val="8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960120"/>
            <a:ext cx="2651760" cy="32004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C0612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🏘️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09360" y="18288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6400800" y="2788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freguesias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analisadas ao detalhe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2104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8229600" cy="594360"/>
          </a:xfrm>
          <a:prstGeom prst="roundRect">
            <a:avLst>
              <a:gd name="adj" fmla="val 23077"/>
            </a:avLst>
          </a:prstGeom>
          <a:solidFill>
            <a:srgbClr val="F1C40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3434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 fact: 288 km de ciclovias = a distância Lisboa → Coimbra de bicicleta!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Pódio das Freguesias!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54" y="91440"/>
            <a:ext cx="548640" cy="548640"/>
          </a:xfrm>
          <a:prstGeom prst="rect">
            <a:avLst/>
          </a:prstGeom>
        </p:spPr>
      </p:pic>
      <p:graphicFrame>
        <p:nvGraphicFramePr>
          <p:cNvPr id="4" name="Chart 0"/>
          <p:cNvGraphicFramePr/>
          <p:nvPr/>
        </p:nvGraphicFramePr>
        <p:xfrm>
          <a:off x="182880" y="64008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6400800" y="731520"/>
            <a:ext cx="2468880" cy="210312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31750">
            <a:solidFill>
              <a:srgbClr val="2C3E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6537960" y="8686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 Alvalade: 1 904 lugares!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 Av. Novas: 1 874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🥉 Lumiar: 1 337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6400800" y="3017520"/>
            <a:ext cx="2468880" cy="1828800"/>
          </a:xfrm>
          <a:prstGeom prst="roundRect">
            <a:avLst>
              <a:gd name="adj" fmla="val 7500"/>
            </a:avLst>
          </a:prstGeom>
          <a:solidFill>
            <a:srgbClr val="FFF0EE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537960" y="3108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twist!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537960" y="35204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Benfica tem 41 km de ciclovia mas está em 8.º lugar. Arroios tem 6 km mas a maior densidade!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3: O Mapa do Tesouro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5486400" cy="3886200"/>
          </a:xfrm>
          <a:prstGeom prst="roundRect">
            <a:avLst>
              <a:gd name="adj" fmla="val 3529"/>
            </a:avLst>
          </a:prstGeom>
          <a:solidFill>
            <a:srgbClr val="0A1929"/>
          </a:solidFill>
          <a:ln w="38100">
            <a:solidFill>
              <a:srgbClr val="F1C40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868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kepler.gl/demo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 2 209 pontos de estacionamento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 1 025 segmentos de ciclovia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Zonas sem cobertura (gaps!)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Carrega os GeoJSON no kepler.gl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vê Lisboa como nunca viste!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777240"/>
            <a:ext cx="2743200" cy="3886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1750">
            <a:solidFill>
              <a:srgbClr val="2C3E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96012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09360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Onde faltam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estacionamentos?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09360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Qual a densidade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km de ciclovia?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09360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Que freguesias têm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mas sem parking?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731520"/>
            <a:ext cx="2926080" cy="2926080"/>
          </a:xfrm>
          <a:prstGeom prst="ellipse">
            <a:avLst/>
          </a:prstGeom>
          <a:solidFill>
            <a:srgbClr val="F1C40F"/>
          </a:solidFill>
          <a:ln w="38100">
            <a:solidFill>
              <a:srgbClr val="E67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28016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365760"/>
            <a:ext cx="128016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474720"/>
            <a:ext cx="9144000" cy="320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749040"/>
            <a:ext cx="9144000" cy="146304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370832"/>
            <a:ext cx="731520" cy="10972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4370832"/>
            <a:ext cx="731520" cy="10972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4370832"/>
            <a:ext cx="731520" cy="10972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4370832"/>
            <a:ext cx="731520" cy="10972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4370832"/>
            <a:ext cx="731520" cy="10972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4370832"/>
            <a:ext cx="731520" cy="10972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822960"/>
            <a:ext cx="6858000" cy="256032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44450">
            <a:solidFill>
              <a:srgbClr val="2C3E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8686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FIM!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14400" y="150876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aberto · Dados reais · Resultados imediatos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201168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C++17 · nlohmann/json · STL pura · 13 ficheiros gerados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Dados: dados.cm-lisboa.pt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4427" y="2682240"/>
            <a:ext cx="2926080" cy="502920"/>
          </a:xfrm>
          <a:prstGeom prst="roundRect">
            <a:avLst>
              <a:gd name="adj" fmla="val 21818"/>
            </a:avLst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477" y="2727960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751677" y="2682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Disponível no GitHub</a:t>
            </a:r>
            <a:endParaRPr lang="en-US" sz="12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788920"/>
            <a:ext cx="1097280" cy="109728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629400" y="2697480"/>
            <a:ext cx="1554480" cy="1554480"/>
          </a:xfrm>
          <a:prstGeom prst="ellipse">
            <a:avLst/>
          </a:prstGeom>
          <a:solidFill>
            <a:srgbClr val="2ECC71">
              <a:alpha val="40000"/>
            </a:srgbClr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834640"/>
            <a:ext cx="1097280" cy="10972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 rot="900000">
            <a:off x="274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800" dirty="0"/>
          </a:p>
        </p:txBody>
      </p:sp>
      <p:sp>
        <p:nvSpPr>
          <p:cNvPr id="24" name="Text 19"/>
          <p:cNvSpPr/>
          <p:nvPr/>
        </p:nvSpPr>
        <p:spPr>
          <a:xfrm rot="-720000">
            <a:off x="7772400" y="731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000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F4B6A18-7B67-C009-C35F-D89DEE05D15D}"/>
              </a:ext>
            </a:extLst>
          </p:cNvPr>
          <p:cNvSpPr txBox="1"/>
          <p:nvPr/>
        </p:nvSpPr>
        <p:spPr>
          <a:xfrm>
            <a:off x="3848024" y="2778621"/>
            <a:ext cx="3154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/>
              <a:t>https://github.com/Carlosmsp/Algoritmos_E_D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606</Words>
  <Application>Microsoft Office PowerPoint</Application>
  <PresentationFormat>Apresentação no Ecrã (16:9)</PresentationFormat>
  <Paragraphs>124</Paragraphs>
  <Slides>8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Mobilidade Urbana Lisboa — Edição Cartoon</dc:title>
  <dc:subject>PptxGenJS Presentation</dc:subject>
  <dc:creator>PptxGenJS</dc:creator>
  <cp:lastModifiedBy>Andre manuel pereira</cp:lastModifiedBy>
  <cp:revision>5</cp:revision>
  <dcterms:created xsi:type="dcterms:W3CDTF">2026-06-16T16:02:10Z</dcterms:created>
  <dcterms:modified xsi:type="dcterms:W3CDTF">2026-06-16T17:18:14Z</dcterms:modified>
</cp:coreProperties>
</file>